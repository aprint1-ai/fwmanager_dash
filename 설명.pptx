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721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presProps" Target="presProps.xml"  /><Relationship Id="rId12" Type="http://schemas.openxmlformats.org/officeDocument/2006/relationships/viewProps" Target="viewProps.xml"  /><Relationship Id="rId13" Type="http://schemas.openxmlformats.org/officeDocument/2006/relationships/theme" Target="theme/theme1.xml"  /><Relationship Id="rId14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2026-09-10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hyperlink" Target="https://foodwin-dash.vercel.app/" TargetMode="External"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3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3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4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5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6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2405061" y="2808173"/>
            <a:ext cx="7381876" cy="437947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defRPr/>
            </a:pPr>
            <a:r>
              <a:rPr lang="ko-KR" altLang="en-US" sz="2300"/>
              <a:t>푸드윈 경영지원실 대시보드 사용법</a:t>
            </a:r>
            <a:endParaRPr lang="ko-KR" altLang="en-US" sz="2300"/>
          </a:p>
        </p:txBody>
      </p:sp>
      <p:sp>
        <p:nvSpPr>
          <p:cNvPr id="5" name=""/>
          <p:cNvSpPr txBox="1"/>
          <p:nvPr/>
        </p:nvSpPr>
        <p:spPr>
          <a:xfrm>
            <a:off x="2405062" y="3429000"/>
            <a:ext cx="7381876" cy="4379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2300">
                <a:hlinkClick r:id="rId2"/>
              </a:rPr>
              <a:t>https://foodwin-dash.vercel.app/</a:t>
            </a:r>
            <a:endParaRPr lang="en-US" altLang="ko-KR" sz="23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182121" y="919274"/>
            <a:ext cx="9827758" cy="5019450"/>
          </a:xfrm>
          <a:prstGeom prst="rect">
            <a:avLst/>
          </a:prstGeom>
        </p:spPr>
      </p:pic>
      <p:sp>
        <p:nvSpPr>
          <p:cNvPr id="5" name=""/>
          <p:cNvSpPr/>
          <p:nvPr/>
        </p:nvSpPr>
        <p:spPr>
          <a:xfrm>
            <a:off x="8375196" y="919274"/>
            <a:ext cx="782410" cy="2475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"/>
          <p:cNvSpPr/>
          <p:nvPr/>
        </p:nvSpPr>
        <p:spPr>
          <a:xfrm>
            <a:off x="2813277" y="1411852"/>
            <a:ext cx="1445759" cy="2475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"/>
          <p:cNvSpPr/>
          <p:nvPr/>
        </p:nvSpPr>
        <p:spPr>
          <a:xfrm>
            <a:off x="8508547" y="2438852"/>
            <a:ext cx="782410" cy="2475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"/>
          <p:cNvSpPr/>
          <p:nvPr/>
        </p:nvSpPr>
        <p:spPr>
          <a:xfrm>
            <a:off x="2813277" y="2429383"/>
            <a:ext cx="901473" cy="2475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"/>
          <p:cNvSpPr txBox="1"/>
          <p:nvPr/>
        </p:nvSpPr>
        <p:spPr>
          <a:xfrm>
            <a:off x="4369594" y="1411852"/>
            <a:ext cx="2211160" cy="291218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1300" b="1">
                <a:solidFill>
                  <a:srgbClr val="ff0000"/>
                </a:solidFill>
              </a:rPr>
              <a:t>연간 누적액을 표시합니다</a:t>
            </a:r>
            <a:r>
              <a:rPr lang="en-US" altLang="ko-KR" sz="1300" b="1">
                <a:solidFill>
                  <a:srgbClr val="ff0000"/>
                </a:solidFill>
              </a:rPr>
              <a:t>.</a:t>
            </a:r>
            <a:endParaRPr lang="en-US" altLang="ko-KR" sz="1300" b="1">
              <a:solidFill>
                <a:srgbClr val="ff0000"/>
              </a:solidFill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410425" y="2429383"/>
            <a:ext cx="2240757" cy="6738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ko-KR" altLang="en-US" sz="1300" b="1">
                <a:solidFill>
                  <a:srgbClr val="ff0000"/>
                </a:solidFill>
              </a:rPr>
              <a:t>상단에 표시된 연도와 우측에 표시된 월의 지표를 보여줍니다</a:t>
            </a:r>
            <a:r>
              <a:rPr lang="en-US" altLang="ko-KR" sz="1300" b="1">
                <a:solidFill>
                  <a:srgbClr val="ff0000"/>
                </a:solidFill>
              </a:rPr>
              <a:t>.</a:t>
            </a:r>
            <a:endParaRPr lang="en-US" altLang="ko-KR" sz="1300" b="1">
              <a:solidFill>
                <a:srgbClr val="ff0000"/>
              </a:solidFill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9386547" y="2417012"/>
            <a:ext cx="2211160" cy="291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300" b="1">
                <a:solidFill>
                  <a:srgbClr val="ff0000"/>
                </a:solidFill>
              </a:rPr>
              <a:t>조회하고 싶은 월을 선택</a:t>
            </a:r>
            <a:endParaRPr lang="ko-KR" altLang="en-US" sz="1300" b="1">
              <a:solidFill>
                <a:srgbClr val="ff0000"/>
              </a:solidFill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9386547" y="897434"/>
            <a:ext cx="2211160" cy="2912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300" b="1">
                <a:solidFill>
                  <a:srgbClr val="ff0000"/>
                </a:solidFill>
              </a:rPr>
              <a:t>조회하고 싶은 연도를 선택</a:t>
            </a:r>
            <a:endParaRPr lang="ko-KR" altLang="en-US" sz="1300" b="1">
              <a:solidFill>
                <a:srgbClr val="ff0000"/>
              </a:solidFill>
            </a:endParaRPr>
          </a:p>
        </p:txBody>
      </p:sp>
      <p:cxnSp>
        <p:nvCxnSpPr>
          <p:cNvPr id="16" name=""/>
          <p:cNvCxnSpPr>
            <a:endCxn id="10" idx="1"/>
          </p:cNvCxnSpPr>
          <p:nvPr/>
        </p:nvCxnSpPr>
        <p:spPr>
          <a:xfrm>
            <a:off x="4250532" y="1557461"/>
            <a:ext cx="1190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"/>
          <p:cNvCxnSpPr/>
          <p:nvPr/>
        </p:nvCxnSpPr>
        <p:spPr>
          <a:xfrm>
            <a:off x="2651182" y="2553152"/>
            <a:ext cx="162095" cy="946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"/>
          <p:cNvCxnSpPr/>
          <p:nvPr/>
        </p:nvCxnSpPr>
        <p:spPr>
          <a:xfrm>
            <a:off x="9157606" y="1043077"/>
            <a:ext cx="162095" cy="946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"/>
          <p:cNvCxnSpPr/>
          <p:nvPr/>
        </p:nvCxnSpPr>
        <p:spPr>
          <a:xfrm>
            <a:off x="9290958" y="2562621"/>
            <a:ext cx="162095" cy="946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392906"/>
            <a:ext cx="12192000" cy="6072187"/>
          </a:xfrm>
          <a:prstGeom prst="rect">
            <a:avLst/>
          </a:prstGeom>
        </p:spPr>
      </p:pic>
      <p:sp>
        <p:nvSpPr>
          <p:cNvPr id="5" name=""/>
          <p:cNvSpPr/>
          <p:nvPr/>
        </p:nvSpPr>
        <p:spPr>
          <a:xfrm>
            <a:off x="2200955" y="1697999"/>
            <a:ext cx="1063058" cy="2475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"/>
          <p:cNvSpPr txBox="1"/>
          <p:nvPr/>
        </p:nvSpPr>
        <p:spPr>
          <a:xfrm>
            <a:off x="3426108" y="1679314"/>
            <a:ext cx="5676562" cy="284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300" b="1">
                <a:solidFill>
                  <a:srgbClr val="ff0000"/>
                </a:solidFill>
              </a:rPr>
              <a:t>선택된 연도와 월의 각 회사의 매출과 누적을 보여줍니다</a:t>
            </a:r>
            <a:r>
              <a:rPr lang="en-US" altLang="ko-KR" sz="1300" b="1">
                <a:solidFill>
                  <a:srgbClr val="ff0000"/>
                </a:solidFill>
              </a:rPr>
              <a:t>.</a:t>
            </a:r>
            <a:endParaRPr lang="en-US" altLang="ko-KR" sz="1300" b="1">
              <a:solidFill>
                <a:srgbClr val="ff0000"/>
              </a:solidFill>
            </a:endParaRPr>
          </a:p>
        </p:txBody>
      </p:sp>
      <p:cxnSp>
        <p:nvCxnSpPr>
          <p:cNvPr id="8" name=""/>
          <p:cNvCxnSpPr/>
          <p:nvPr/>
        </p:nvCxnSpPr>
        <p:spPr>
          <a:xfrm>
            <a:off x="3264013" y="1821768"/>
            <a:ext cx="16209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398859"/>
            <a:ext cx="12192000" cy="6060281"/>
          </a:xfrm>
          <a:prstGeom prst="rect">
            <a:avLst/>
          </a:prstGeom>
        </p:spPr>
      </p:pic>
      <p:sp>
        <p:nvSpPr>
          <p:cNvPr id="7" name=""/>
          <p:cNvSpPr/>
          <p:nvPr/>
        </p:nvSpPr>
        <p:spPr>
          <a:xfrm>
            <a:off x="8858590" y="398859"/>
            <a:ext cx="952499" cy="2475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"/>
          <p:cNvSpPr/>
          <p:nvPr/>
        </p:nvSpPr>
        <p:spPr>
          <a:xfrm>
            <a:off x="8830015" y="1157795"/>
            <a:ext cx="952499" cy="2475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"/>
          <p:cNvSpPr/>
          <p:nvPr/>
        </p:nvSpPr>
        <p:spPr>
          <a:xfrm>
            <a:off x="6316436" y="1794948"/>
            <a:ext cx="2904273" cy="4091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"/>
          <p:cNvSpPr/>
          <p:nvPr/>
        </p:nvSpPr>
        <p:spPr>
          <a:xfrm>
            <a:off x="2251302" y="1424383"/>
            <a:ext cx="1199809" cy="2475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"/>
          <p:cNvSpPr txBox="1"/>
          <p:nvPr/>
        </p:nvSpPr>
        <p:spPr>
          <a:xfrm>
            <a:off x="107761" y="1716173"/>
            <a:ext cx="2240757" cy="2833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ko-KR" altLang="en-US" sz="1300" b="1">
                <a:solidFill>
                  <a:srgbClr val="ff0000"/>
                </a:solidFill>
              </a:rPr>
              <a:t>입력할 회사를 선택합니다</a:t>
            </a:r>
            <a:r>
              <a:rPr lang="en-US" altLang="ko-KR" sz="1300" b="1">
                <a:solidFill>
                  <a:srgbClr val="ff0000"/>
                </a:solidFill>
              </a:rPr>
              <a:t>.</a:t>
            </a:r>
            <a:endParaRPr lang="en-US" altLang="ko-KR" sz="1300" b="1">
              <a:solidFill>
                <a:srgbClr val="ff0000"/>
              </a:solidFill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9811089" y="398859"/>
            <a:ext cx="2211160" cy="2912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300" b="1">
                <a:solidFill>
                  <a:srgbClr val="ff0000"/>
                </a:solidFill>
              </a:rPr>
              <a:t>조회하고 싶은 연도를 선택</a:t>
            </a:r>
            <a:endParaRPr lang="ko-KR" altLang="en-US" sz="1300" b="1">
              <a:solidFill>
                <a:srgbClr val="ff0000"/>
              </a:solidFill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9811090" y="1432836"/>
            <a:ext cx="2514439" cy="2702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200" b="1">
                <a:solidFill>
                  <a:srgbClr val="ff0000"/>
                </a:solidFill>
              </a:rPr>
              <a:t>입력 완료 후 반드시 저장합니다</a:t>
            </a:r>
            <a:endParaRPr lang="ko-KR" altLang="en-US" sz="1200" b="1">
              <a:solidFill>
                <a:srgbClr val="ff0000"/>
              </a:solidFill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8690522" y="2293586"/>
            <a:ext cx="2514439" cy="4477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200" b="1">
                <a:solidFill>
                  <a:srgbClr val="ff0000"/>
                </a:solidFill>
              </a:rPr>
              <a:t>지금은 더미 데이터입니다</a:t>
            </a:r>
            <a:r>
              <a:rPr lang="en-US" altLang="ko-KR" sz="1200" b="1">
                <a:solidFill>
                  <a:srgbClr val="ff0000"/>
                </a:solidFill>
              </a:rPr>
              <a:t>.</a:t>
            </a:r>
            <a:endParaRPr lang="en-US" altLang="ko-KR" sz="1200" b="1">
              <a:solidFill>
                <a:srgbClr val="ff0000"/>
              </a:solidFill>
            </a:endParaRPr>
          </a:p>
          <a:p>
            <a:pPr>
              <a:defRPr/>
            </a:pPr>
            <a:r>
              <a:rPr lang="ko-KR" altLang="en-US" sz="1200" b="1">
                <a:solidFill>
                  <a:srgbClr val="ff0000"/>
                </a:solidFill>
              </a:rPr>
              <a:t>새롭게 입력 부탁드립니다</a:t>
            </a:r>
            <a:r>
              <a:rPr lang="en-US" altLang="ko-KR" sz="1200" b="1">
                <a:solidFill>
                  <a:srgbClr val="ff0000"/>
                </a:solidFill>
              </a:rPr>
              <a:t>.</a:t>
            </a:r>
            <a:endParaRPr lang="en-US" altLang="ko-KR" sz="1200" b="1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398859"/>
            <a:ext cx="12192000" cy="6060281"/>
          </a:xfrm>
          <a:prstGeom prst="rect">
            <a:avLst/>
          </a:prstGeom>
        </p:spPr>
      </p:pic>
      <p:sp>
        <p:nvSpPr>
          <p:cNvPr id="5" name=""/>
          <p:cNvSpPr/>
          <p:nvPr/>
        </p:nvSpPr>
        <p:spPr>
          <a:xfrm>
            <a:off x="3161960" y="1119695"/>
            <a:ext cx="289151" cy="2475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"/>
          <p:cNvSpPr/>
          <p:nvPr/>
        </p:nvSpPr>
        <p:spPr>
          <a:xfrm>
            <a:off x="3620521" y="2428703"/>
            <a:ext cx="637834" cy="2475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"/>
          <p:cNvSpPr/>
          <p:nvPr/>
        </p:nvSpPr>
        <p:spPr>
          <a:xfrm>
            <a:off x="3451111" y="1794948"/>
            <a:ext cx="795166" cy="2475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"/>
          <p:cNvSpPr txBox="1"/>
          <p:nvPr/>
        </p:nvSpPr>
        <p:spPr>
          <a:xfrm>
            <a:off x="784302" y="942199"/>
            <a:ext cx="2666809" cy="488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300" b="1">
                <a:solidFill>
                  <a:srgbClr val="ff0000"/>
                </a:solidFill>
              </a:rPr>
              <a:t>새로운 회사를 추가</a:t>
            </a:r>
            <a:r>
              <a:rPr lang="en-US" altLang="ko-KR" sz="1300" b="1">
                <a:solidFill>
                  <a:srgbClr val="ff0000"/>
                </a:solidFill>
              </a:rPr>
              <a:t>/</a:t>
            </a:r>
            <a:r>
              <a:rPr lang="ko-KR" altLang="en-US" sz="1300" b="1">
                <a:solidFill>
                  <a:srgbClr val="ff0000"/>
                </a:solidFill>
              </a:rPr>
              <a:t>삭제합니다</a:t>
            </a:r>
            <a:endParaRPr lang="ko-KR" altLang="en-US" sz="1300" b="1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altLang="ko-KR" sz="1300" b="1">
                <a:solidFill>
                  <a:srgbClr val="ff0000"/>
                </a:solidFill>
              </a:rPr>
              <a:t>(6p</a:t>
            </a:r>
            <a:r>
              <a:rPr lang="ko-KR" altLang="en-US" sz="1300" b="1">
                <a:solidFill>
                  <a:srgbClr val="ff0000"/>
                </a:solidFill>
              </a:rPr>
              <a:t> 참고</a:t>
            </a:r>
            <a:r>
              <a:rPr lang="en-US" altLang="ko-KR" sz="1300" b="1">
                <a:solidFill>
                  <a:srgbClr val="ff0000"/>
                </a:solidFill>
              </a:rPr>
              <a:t>)</a:t>
            </a:r>
            <a:endParaRPr lang="en-US" altLang="ko-KR" sz="1300" b="1">
              <a:solidFill>
                <a:srgbClr val="ff0000"/>
              </a:solidFill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3801997" y="2741295"/>
            <a:ext cx="2514439" cy="447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200" b="1">
                <a:solidFill>
                  <a:srgbClr val="ff0000"/>
                </a:solidFill>
              </a:rPr>
              <a:t>새로운 항목</a:t>
            </a:r>
            <a:r>
              <a:rPr lang="en-US" altLang="ko-KR" sz="1200" b="1">
                <a:solidFill>
                  <a:srgbClr val="ff0000"/>
                </a:solidFill>
              </a:rPr>
              <a:t>(</a:t>
            </a:r>
            <a:r>
              <a:rPr lang="ko-KR" altLang="en-US" sz="1200" b="1">
                <a:solidFill>
                  <a:srgbClr val="ff0000"/>
                </a:solidFill>
              </a:rPr>
              <a:t>행</a:t>
            </a:r>
            <a:r>
              <a:rPr lang="en-US" altLang="ko-KR" sz="1200" b="1">
                <a:solidFill>
                  <a:srgbClr val="ff0000"/>
                </a:solidFill>
              </a:rPr>
              <a:t>)</a:t>
            </a:r>
            <a:r>
              <a:rPr lang="ko-KR" altLang="en-US" sz="1200" b="1">
                <a:solidFill>
                  <a:srgbClr val="ff0000"/>
                </a:solidFill>
              </a:rPr>
              <a:t>을 추가합니다</a:t>
            </a:r>
            <a:r>
              <a:rPr lang="en-US" altLang="ko-KR" sz="1200" b="1">
                <a:solidFill>
                  <a:srgbClr val="ff0000"/>
                </a:solidFill>
              </a:rPr>
              <a:t>.</a:t>
            </a:r>
            <a:endParaRPr lang="en-US" altLang="ko-KR" sz="1200" b="1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altLang="ko-KR" sz="1200" b="1">
                <a:solidFill>
                  <a:srgbClr val="ff0000"/>
                </a:solidFill>
              </a:rPr>
              <a:t>(7p</a:t>
            </a:r>
            <a:r>
              <a:rPr lang="ko-KR" altLang="en-US" sz="1200" b="1">
                <a:solidFill>
                  <a:srgbClr val="ff0000"/>
                </a:solidFill>
              </a:rPr>
              <a:t> 참고</a:t>
            </a:r>
            <a:r>
              <a:rPr lang="en-US" altLang="ko-KR" sz="1200" b="1">
                <a:solidFill>
                  <a:srgbClr val="ff0000"/>
                </a:solidFill>
              </a:rPr>
              <a:t>)</a:t>
            </a:r>
            <a:endParaRPr lang="en-US" altLang="ko-KR" sz="1200" b="1">
              <a:solidFill>
                <a:srgbClr val="ff0000"/>
              </a:solidFill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3872763" y="1405333"/>
            <a:ext cx="3829135" cy="269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200" b="1">
                <a:solidFill>
                  <a:srgbClr val="ff0000"/>
                </a:solidFill>
              </a:rPr>
              <a:t>항목의 제목을 눌러 수정</a:t>
            </a:r>
            <a:r>
              <a:rPr lang="en-US" altLang="ko-KR" sz="1200" b="1">
                <a:solidFill>
                  <a:srgbClr val="ff0000"/>
                </a:solidFill>
              </a:rPr>
              <a:t>/</a:t>
            </a:r>
            <a:r>
              <a:rPr lang="ko-KR" altLang="en-US" sz="1200" b="1">
                <a:solidFill>
                  <a:srgbClr val="ff0000"/>
                </a:solidFill>
              </a:rPr>
              <a:t>삭제 </a:t>
            </a:r>
            <a:r>
              <a:rPr lang="en-US" altLang="ko-KR" sz="1200" b="1">
                <a:solidFill>
                  <a:srgbClr val="ff0000"/>
                </a:solidFill>
              </a:rPr>
              <a:t>(8p</a:t>
            </a:r>
            <a:r>
              <a:rPr lang="ko-KR" altLang="en-US" sz="1200" b="1">
                <a:solidFill>
                  <a:srgbClr val="ff0000"/>
                </a:solidFill>
              </a:rPr>
              <a:t>참고</a:t>
            </a:r>
            <a:r>
              <a:rPr lang="en-US" altLang="ko-KR" sz="1200" b="1">
                <a:solidFill>
                  <a:srgbClr val="ff0000"/>
                </a:solidFill>
              </a:rPr>
              <a:t>)</a:t>
            </a:r>
            <a:endParaRPr lang="en-US" altLang="ko-KR" sz="1200" b="1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61449" y="0"/>
            <a:ext cx="9669101" cy="6858000"/>
          </a:xfrm>
          <a:prstGeom prst="rect">
            <a:avLst/>
          </a:prstGeom>
        </p:spPr>
      </p:pic>
      <p:sp>
        <p:nvSpPr>
          <p:cNvPr id="5" name=""/>
          <p:cNvSpPr/>
          <p:nvPr/>
        </p:nvSpPr>
        <p:spPr>
          <a:xfrm>
            <a:off x="7282959" y="2472995"/>
            <a:ext cx="351623" cy="2475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"/>
          <p:cNvSpPr txBox="1"/>
          <p:nvPr/>
        </p:nvSpPr>
        <p:spPr>
          <a:xfrm>
            <a:off x="7781462" y="2472995"/>
            <a:ext cx="2211160" cy="2912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300" b="1">
                <a:solidFill>
                  <a:schemeClr val="lt1"/>
                </a:solidFill>
              </a:rPr>
              <a:t>신규 회사를 등록합니다</a:t>
            </a:r>
            <a:endParaRPr lang="ko-KR" altLang="en-US" sz="1300" b="1">
              <a:solidFill>
                <a:schemeClr val="lt1"/>
              </a:solidFill>
            </a:endParaRPr>
          </a:p>
        </p:txBody>
      </p:sp>
      <p:sp>
        <p:nvSpPr>
          <p:cNvPr id="7" name=""/>
          <p:cNvSpPr/>
          <p:nvPr/>
        </p:nvSpPr>
        <p:spPr>
          <a:xfrm>
            <a:off x="7126197" y="3124312"/>
            <a:ext cx="351623" cy="2475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"/>
          <p:cNvSpPr txBox="1"/>
          <p:nvPr/>
        </p:nvSpPr>
        <p:spPr>
          <a:xfrm>
            <a:off x="7876357" y="3109139"/>
            <a:ext cx="2211160" cy="489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300" b="1">
                <a:solidFill>
                  <a:schemeClr val="lt1"/>
                </a:solidFill>
              </a:rPr>
              <a:t>등록된 회사의 이름을 수정하거나 삭제합니다</a:t>
            </a:r>
            <a:r>
              <a:rPr lang="en-US" altLang="ko-KR" sz="1300" b="1">
                <a:solidFill>
                  <a:schemeClr val="lt1"/>
                </a:solidFill>
              </a:rPr>
              <a:t>.</a:t>
            </a:r>
            <a:endParaRPr lang="en-US" altLang="ko-KR" sz="1300" b="1">
              <a:solidFill>
                <a:schemeClr val="lt1"/>
              </a:solidFill>
            </a:endParaRPr>
          </a:p>
        </p:txBody>
      </p:sp>
      <p:cxnSp>
        <p:nvCxnSpPr>
          <p:cNvPr id="9" name=""/>
          <p:cNvCxnSpPr>
            <a:stCxn id="7" idx="3"/>
          </p:cNvCxnSpPr>
          <p:nvPr/>
        </p:nvCxnSpPr>
        <p:spPr>
          <a:xfrm>
            <a:off x="7477820" y="3248081"/>
            <a:ext cx="30364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"/>
          <p:cNvCxnSpPr>
            <a:stCxn id="5" idx="3"/>
          </p:cNvCxnSpPr>
          <p:nvPr/>
        </p:nvCxnSpPr>
        <p:spPr>
          <a:xfrm>
            <a:off x="7634582" y="2596764"/>
            <a:ext cx="15182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64284" y="0"/>
            <a:ext cx="11863432" cy="6858000"/>
          </a:xfrm>
          <a:prstGeom prst="rect">
            <a:avLst/>
          </a:prstGeom>
        </p:spPr>
      </p:pic>
      <p:sp>
        <p:nvSpPr>
          <p:cNvPr id="5" name=""/>
          <p:cNvSpPr/>
          <p:nvPr/>
        </p:nvSpPr>
        <p:spPr>
          <a:xfrm>
            <a:off x="4425459" y="3118292"/>
            <a:ext cx="3120104" cy="6125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"/>
          <p:cNvSpPr txBox="1"/>
          <p:nvPr/>
        </p:nvSpPr>
        <p:spPr>
          <a:xfrm>
            <a:off x="7697385" y="2937642"/>
            <a:ext cx="3030132" cy="9827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300" b="1">
                <a:solidFill>
                  <a:schemeClr val="lt1"/>
                </a:solidFill>
              </a:rPr>
              <a:t>신규 항목이 누적액에 플러스 되는</a:t>
            </a:r>
            <a:endParaRPr lang="ko-KR" altLang="en-US" sz="1300" b="1">
              <a:solidFill>
                <a:schemeClr val="lt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300" b="1">
                <a:solidFill>
                  <a:schemeClr val="lt1"/>
                </a:solidFill>
              </a:rPr>
              <a:t>항목인지 마이너스 되는 항목인지 정합니다</a:t>
            </a:r>
            <a:r>
              <a:rPr lang="en-US" altLang="ko-KR" sz="1300" b="1">
                <a:solidFill>
                  <a:schemeClr val="lt1"/>
                </a:solidFill>
              </a:rPr>
              <a:t>.</a:t>
            </a:r>
            <a:endParaRPr lang="en-US" altLang="ko-KR" sz="1300" b="1">
              <a:solidFill>
                <a:schemeClr val="lt1"/>
              </a:solidFill>
            </a:endParaRPr>
          </a:p>
        </p:txBody>
      </p:sp>
      <p:cxnSp>
        <p:nvCxnSpPr>
          <p:cNvPr id="7" name=""/>
          <p:cNvCxnSpPr>
            <a:stCxn id="5" idx="3"/>
          </p:cNvCxnSpPr>
          <p:nvPr/>
        </p:nvCxnSpPr>
        <p:spPr>
          <a:xfrm>
            <a:off x="7545564" y="3424549"/>
            <a:ext cx="151821" cy="44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"/>
          <p:cNvSpPr/>
          <p:nvPr/>
        </p:nvSpPr>
        <p:spPr>
          <a:xfrm>
            <a:off x="4425459" y="2505777"/>
            <a:ext cx="2906461" cy="4318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9" name=""/>
          <p:cNvCxnSpPr/>
          <p:nvPr/>
        </p:nvCxnSpPr>
        <p:spPr>
          <a:xfrm>
            <a:off x="7331920" y="2721709"/>
            <a:ext cx="36546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"/>
          <p:cNvSpPr txBox="1"/>
          <p:nvPr/>
        </p:nvSpPr>
        <p:spPr>
          <a:xfrm>
            <a:off x="7697386" y="2505777"/>
            <a:ext cx="3030131" cy="379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300" b="1">
                <a:solidFill>
                  <a:schemeClr val="lt1"/>
                </a:solidFill>
              </a:rPr>
              <a:t>신규 항목의 이름을 작성합니다</a:t>
            </a:r>
            <a:r>
              <a:rPr lang="en-US" altLang="ko-KR" sz="1300" b="1">
                <a:solidFill>
                  <a:schemeClr val="lt1"/>
                </a:solidFill>
              </a:rPr>
              <a:t>.</a:t>
            </a:r>
            <a:endParaRPr lang="en-US" altLang="ko-KR" sz="1300" b="1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193800" y="0"/>
            <a:ext cx="9804399" cy="6858000"/>
          </a:xfrm>
          <a:prstGeom prst="rect">
            <a:avLst/>
          </a:prstGeom>
        </p:spPr>
      </p:pic>
      <p:sp>
        <p:nvSpPr>
          <p:cNvPr id="5" name=""/>
          <p:cNvSpPr/>
          <p:nvPr/>
        </p:nvSpPr>
        <p:spPr>
          <a:xfrm>
            <a:off x="4416557" y="2407856"/>
            <a:ext cx="2906461" cy="4318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6" name=""/>
          <p:cNvCxnSpPr/>
          <p:nvPr/>
        </p:nvCxnSpPr>
        <p:spPr>
          <a:xfrm>
            <a:off x="7323018" y="2623788"/>
            <a:ext cx="36546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"/>
          <p:cNvSpPr txBox="1"/>
          <p:nvPr/>
        </p:nvSpPr>
        <p:spPr>
          <a:xfrm>
            <a:off x="7688484" y="2407856"/>
            <a:ext cx="3030132" cy="381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300" b="1">
                <a:solidFill>
                  <a:schemeClr val="lt1"/>
                </a:solidFill>
              </a:rPr>
              <a:t>선택된 항목의 이름을 수정합니다</a:t>
            </a:r>
            <a:r>
              <a:rPr lang="en-US" altLang="ko-KR" sz="1300" b="1">
                <a:solidFill>
                  <a:schemeClr val="lt1"/>
                </a:solidFill>
              </a:rPr>
              <a:t>.</a:t>
            </a:r>
            <a:endParaRPr lang="en-US" altLang="ko-KR" sz="1300" b="1">
              <a:solidFill>
                <a:schemeClr val="lt1"/>
              </a:solidFill>
            </a:endParaRPr>
          </a:p>
        </p:txBody>
      </p:sp>
      <p:sp>
        <p:nvSpPr>
          <p:cNvPr id="8" name=""/>
          <p:cNvSpPr/>
          <p:nvPr/>
        </p:nvSpPr>
        <p:spPr>
          <a:xfrm>
            <a:off x="4416558" y="2997135"/>
            <a:ext cx="2906461" cy="4318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9" name=""/>
          <p:cNvCxnSpPr/>
          <p:nvPr/>
        </p:nvCxnSpPr>
        <p:spPr>
          <a:xfrm>
            <a:off x="7323019" y="3213067"/>
            <a:ext cx="36546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"/>
          <p:cNvSpPr txBox="1"/>
          <p:nvPr/>
        </p:nvSpPr>
        <p:spPr>
          <a:xfrm>
            <a:off x="7688483" y="2874262"/>
            <a:ext cx="3030132" cy="677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300" b="1">
                <a:solidFill>
                  <a:schemeClr val="lt1"/>
                </a:solidFill>
              </a:rPr>
              <a:t>선택된 항목의 수치가 플러스인지 마이너스인지 수정할 수 있습니다</a:t>
            </a:r>
            <a:r>
              <a:rPr lang="en-US" altLang="ko-KR" sz="1300" b="1">
                <a:solidFill>
                  <a:schemeClr val="lt1"/>
                </a:solidFill>
              </a:rPr>
              <a:t>.</a:t>
            </a:r>
            <a:endParaRPr lang="en-US" altLang="ko-KR" sz="1300" b="1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95</ep:Words>
  <ep:PresentationFormat>화면 슬라이드 쇼(4:3)</ep:PresentationFormat>
  <ep:Paragraphs>24</ep:Paragraphs>
  <ep:Slides>8</ep:Slides>
  <ep:Notes>3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ep:HeadingPairs>
  <ep:TitlesOfParts>
    <vt:vector size="9" baseType="lpstr">
      <vt:lpstr>한컴오피스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2026-09-10T06:06:48.904</dcterms:created>
  <dc:creator>User</dc:creator>
  <cp:lastModifiedBy>User</cp:lastModifiedBy>
  <dcterms:modified xsi:type="dcterms:W3CDTF">2026-09-10T06:31:03.532</dcterms:modified>
  <cp:revision>4</cp:revision>
  <cp:version>1100.0100.01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